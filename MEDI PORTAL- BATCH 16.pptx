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7" r:id="rId19"/>
    <p:sldId id="275" r:id="rId20"/>
  </p:sldIdLst>
  <p:sldSz cx="12192000" cy="6858000"/>
  <p:notesSz cx="6858000" cy="9144000"/>
  <p:embeddedFontLst>
    <p:embeddedFont>
      <p:font typeface="Arial Narrow" panose="020B0606020202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261257" y="2159687"/>
            <a:ext cx="11636830" cy="437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lvl="0" indent="0" algn="ctr">
              <a:buSzPts val="3600"/>
              <a:buNone/>
            </a:pPr>
            <a:endParaRPr lang="en-US"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/>
              <a:t>END SEMESTER PRACTICAL EXAMINATION- NOV / DEC 2025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No.:16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Date:01/12/2025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/>
                <a:ea typeface="Arial Narrow"/>
                <a:cs typeface="Arial Narrow"/>
                <a:sym typeface="Arial Narrow"/>
              </a:rPr>
              <a:t>Session:AN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936172"/>
            <a:ext cx="12119100" cy="1088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buSzPts val="3600"/>
              <a:buNone/>
            </a:pPr>
            <a:r>
              <a:rPr lang="en-GB" b="1" dirty="0">
                <a:latin typeface="Arial Narrow"/>
                <a:ea typeface="Arial Narrow"/>
                <a:cs typeface="Arial Narrow"/>
                <a:sym typeface="Arial Narrow"/>
              </a:rPr>
              <a:t>Medi portal – ML based Health recommendation Platform</a:t>
            </a:r>
          </a:p>
          <a:p>
            <a:pPr marL="0" indent="0" algn="ctr">
              <a:buSzPts val="3600"/>
              <a:buNone/>
            </a:pPr>
            <a:endParaRPr lang="en-GB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909475" y="2688772"/>
            <a:ext cx="2743200" cy="1883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lvl="0" indent="0">
              <a:buSzPts val="2400"/>
              <a:buNone/>
            </a:pPr>
            <a:r>
              <a:rPr lang="en-US" sz="2400" b="1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Ms.V.Sowmiya</a:t>
            </a:r>
            <a:endParaRPr lang="en-US" sz="2400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AP(CSE)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788118" y="27170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>
              <a:buSzPts val="2400"/>
              <a:buNone/>
            </a:pPr>
            <a:r>
              <a:rPr lang="en-US" sz="2400" b="1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P.Abinaya</a:t>
            </a: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(811722104003)</a:t>
            </a:r>
          </a:p>
          <a:p>
            <a:pPr marL="0" lvl="0" indent="0">
              <a:buSzPts val="2400"/>
              <a:buNone/>
            </a:pPr>
            <a:r>
              <a:rPr lang="en-US" sz="2400" b="1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P.Charumathi</a:t>
            </a: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(811722104024)</a:t>
            </a:r>
          </a:p>
          <a:p>
            <a:pPr marL="0" lvl="0" indent="0">
              <a:buSzPts val="2400"/>
              <a:buNone/>
            </a:pPr>
            <a:r>
              <a:rPr lang="en-US" sz="2400" b="1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A.Jane</a:t>
            </a: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Beula(811722104060)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-1"/>
            <a:ext cx="10515600" cy="124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D4CA26-A5DF-0734-59CA-9EBE49387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62743" y="1420662"/>
            <a:ext cx="1004751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an AI-powered medical portal using LLM technology for accurate symptom analysis and disease prediction.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personalized health recommendations including diet, lifestyle, and basic medical guidance.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real-time hospital suggestions based on the user’s GPS location for quick medical access.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emergency assistance features that support users during severe or critical health conditions.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enhance user experience through fast, reliable, and intelligent health insights using AI-driven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13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1034142" y="1240971"/>
            <a:ext cx="10319657" cy="460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514350" algn="just">
              <a:buFont typeface="+mj-lt"/>
              <a:buAutoNum type="arabicPeriod"/>
            </a:pPr>
            <a:r>
              <a:rPr lang="en-GB" sz="2400" dirty="0">
                <a:latin typeface="+mj-lt"/>
              </a:rPr>
              <a:t>Traditional symptom-checking systems are rule-based and often fail to accurately understand user-provided medical symptoms.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GB" sz="2400" dirty="0">
                <a:latin typeface="+mj-lt"/>
              </a:rPr>
              <a:t>These systems struggle with natural language input, leading to generic and </a:t>
            </a:r>
            <a:r>
              <a:rPr lang="en-GB" sz="2400" dirty="0">
                <a:latin typeface="+mn-lt"/>
              </a:rPr>
              <a:t>unreliable</a:t>
            </a:r>
            <a:r>
              <a:rPr lang="en-GB" sz="2400" dirty="0">
                <a:latin typeface="+mj-lt"/>
              </a:rPr>
              <a:t> health recommendations.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GB" sz="2400" dirty="0">
                <a:latin typeface="+mj-lt"/>
              </a:rPr>
              <a:t>The proposed Medi Portal uses advanced LLM technology (Gemini 2.5 Flash) to </a:t>
            </a:r>
            <a:r>
              <a:rPr lang="en-GB" sz="2400" dirty="0" err="1">
                <a:latin typeface="+mj-lt"/>
              </a:rPr>
              <a:t>analyze</a:t>
            </a:r>
            <a:r>
              <a:rPr lang="en-GB" sz="2400" dirty="0">
                <a:latin typeface="+mj-lt"/>
              </a:rPr>
              <a:t> symptoms with higher accuracy.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GB" sz="2400" dirty="0">
                <a:latin typeface="+mj-lt"/>
              </a:rPr>
              <a:t>A RAG mechanism enhances the system by retrieving relevant medical knowledge to support more reliable predictions.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GB" sz="2400" dirty="0">
                <a:latin typeface="+mj-lt"/>
              </a:rPr>
              <a:t>The system also offers personalized recommendations, nearby hospital suggestions, and emergency support for critical cases.</a:t>
            </a:r>
          </a:p>
          <a:p>
            <a:pPr marL="51435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sz="2400" dirty="0">
              <a:latin typeface="+mj-lt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1569225534"/>
              </p:ext>
            </p:extLst>
          </p:nvPr>
        </p:nvGraphicFramePr>
        <p:xfrm>
          <a:off x="-1" y="991029"/>
          <a:ext cx="12192001" cy="5120690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329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9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9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Symptom Checker Using Static Dataset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P. Sinha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Designed a web tool that matches user symptoms to fixed dataset entries; lacks AI learning or personalization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PHP, MySQL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Disease Diagnosis Using Decision Tree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S. Gupta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Uses traditional ML algorithms with poor accuracy for multi-symptom analysis and no chatbot integration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Decision Tree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Hospital Finder Web App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L. Thomas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Locates hospitals by region but lacks user profile linkage and severity-based recommendations.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Google Maps API, JavaScript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Basic Health Chatbot System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R. Verma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The system uses simple rule-based replies for health-related questions but fails to predict diseases accurately.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dirty="0"/>
                        <a:t>Python, AIML</a:t>
                      </a:r>
                      <a:endParaRPr lang="en-GB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855F2-9669-C52A-A657-1B8D47DFE6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79"/>
          <a:stretch>
            <a:fillRect/>
          </a:stretch>
        </p:blipFill>
        <p:spPr>
          <a:xfrm>
            <a:off x="1094015" y="881743"/>
            <a:ext cx="9767840" cy="53013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CEFF-22F9-06BA-9A2C-0D2DE4012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46367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 Narrow" panose="020B0606020202030204" pitchFamily="34" charset="0"/>
                <a:sym typeface="Arial Narrow"/>
              </a:rPr>
              <a:t>PROBLEM IDENTIFICAITON</a:t>
            </a:r>
            <a:br>
              <a:rPr lang="en-US" sz="4000" dirty="0">
                <a:latin typeface="Arial Narrow" panose="020B0606020202030204" pitchFamily="34" charset="0"/>
                <a:sym typeface="Arial Narrow"/>
              </a:rPr>
            </a:br>
            <a:endParaRPr lang="en-GB" sz="4000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46058-D2E7-DD92-EF49-2B5C8B14AE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046C510-EE08-9183-CDA6-97142CB2BA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8313" y="1240971"/>
            <a:ext cx="10080173" cy="4909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symptom-checking systems rely on fixed rule-based or keyword-matching methods, leading to low accuracy and unreliable results.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cannot properly understand natural language symptom descriptions, especially when users describe symptoms in long or varied sentences.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ML models like TF-IDF + SVM struggle with medical terminology, abbreviations, and misspellings, reducing prediction quality.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systems do not provide personalized recommendations and often give generic, same-for-all suggestions.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no support for real-time features such as nearby hospital location detection or emergency assistance during critical conditions.</a:t>
            </a:r>
          </a:p>
        </p:txBody>
      </p:sp>
    </p:spTree>
    <p:extLst>
      <p:ext uri="{BB962C8B-B14F-4D97-AF65-F5344CB8AC3E}">
        <p14:creationId xmlns:p14="http://schemas.microsoft.com/office/powerpoint/2010/main" val="2053672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E4E9413-1565-0D0C-7ECB-F2ABB98E4B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E59FE4-53EC-C1AB-91D6-69A9BB6C4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14" y="816428"/>
            <a:ext cx="88011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436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614281" y="2247219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114300" indent="0" algn="just">
              <a:buNone/>
            </a:pPr>
            <a:r>
              <a:rPr lang="en-GB" sz="2400" dirty="0">
                <a:latin typeface="+mn-lt"/>
              </a:rPr>
              <a:t>1. Processor: Intel i5 or higher</a:t>
            </a:r>
          </a:p>
          <a:p>
            <a:pPr marL="114300" indent="0" algn="just">
              <a:buNone/>
            </a:pPr>
            <a:r>
              <a:rPr lang="en-GB" sz="2400" dirty="0">
                <a:latin typeface="+mn-lt"/>
              </a:rPr>
              <a:t>2. RAM: 8GB minimum</a:t>
            </a:r>
          </a:p>
          <a:p>
            <a:pPr marL="114300" indent="0" algn="just">
              <a:buNone/>
            </a:pPr>
            <a:r>
              <a:rPr lang="en-GB" sz="2400" dirty="0">
                <a:latin typeface="+mn-lt"/>
              </a:rPr>
              <a:t>3. Storage: 512GB HDD or higher</a:t>
            </a:r>
            <a:endParaRPr lang="en-GB" sz="2400" dirty="0">
              <a:latin typeface="+mn-lt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938031" y="2539370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0A0FED-AA10-7D5C-6F70-5B538E46A32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59286" y="2140000"/>
            <a:ext cx="4985656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SOFTWARE</a:t>
            </a:r>
            <a:endParaRPr lang="en-US" altLang="en-US" sz="2800" b="1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HTML, CSS, JavaScript, TypeScript.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Supabase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Edge Functions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Supabase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 PostgreSQL DB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Tools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Times New Roman" panose="02020603050405020304" pitchFamily="18" charset="0"/>
              </a:rPr>
              <a:t>VS Code, Node.js, Geolocation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-1"/>
            <a:ext cx="12192000" cy="1415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59B9-8ED3-950F-B47F-7CB5D5331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79110" y="1693791"/>
            <a:ext cx="919774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 &amp; Profile Management</a:t>
            </a:r>
          </a:p>
          <a:p>
            <a:pPr marR="0" lvl="0" indent="-4572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Symptom Analysis (LLM + RAG Engine)</a:t>
            </a:r>
          </a:p>
          <a:p>
            <a:pPr marR="0" lvl="0" indent="-4572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Recommendations Module</a:t>
            </a:r>
          </a:p>
          <a:p>
            <a:pPr marR="0" lvl="0" indent="-4572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 Locator &amp; Nearby Medical Support</a:t>
            </a:r>
          </a:p>
          <a:p>
            <a:pPr marR="0" lvl="0" indent="-4572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Assistance 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185057"/>
            <a:ext cx="12192000" cy="1436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SzPct val="100000"/>
            </a:pP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</a:rPr>
              <a:t>1.User Authentication &amp; Profile Management</a:t>
            </a:r>
            <a:b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sz="40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199" y="1719943"/>
            <a:ext cx="6204858" cy="445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GB" sz="2400" dirty="0">
                <a:latin typeface="+mn-lt"/>
              </a:rPr>
              <a:t>Handles secure login and signup using </a:t>
            </a:r>
            <a:r>
              <a:rPr lang="en-GB" sz="2400" dirty="0" err="1">
                <a:latin typeface="+mn-lt"/>
              </a:rPr>
              <a:t>Supabase</a:t>
            </a:r>
            <a:r>
              <a:rPr lang="en-GB" sz="2400" dirty="0">
                <a:latin typeface="+mn-lt"/>
              </a:rPr>
              <a:t> Authentication with JWT-based identity verification.</a:t>
            </a:r>
          </a:p>
          <a:p>
            <a:pPr algn="just">
              <a:lnSpc>
                <a:spcPct val="100000"/>
              </a:lnSpc>
            </a:pPr>
            <a:r>
              <a:rPr lang="en-GB" sz="2400" dirty="0">
                <a:latin typeface="+mn-lt"/>
              </a:rPr>
              <a:t>Manages user profiles stored in </a:t>
            </a:r>
            <a:r>
              <a:rPr lang="en-GB" sz="2400" dirty="0" err="1">
                <a:latin typeface="+mn-lt"/>
              </a:rPr>
              <a:t>Supabase</a:t>
            </a:r>
            <a:r>
              <a:rPr lang="en-GB" sz="2400" dirty="0">
                <a:latin typeface="+mn-lt"/>
              </a:rPr>
              <a:t> PostgreSQL for personalized medical recommendations. TypeScript is used to fetch, update, and maintain user data securely.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2D922F-6D97-9DE6-B65E-D6B7D1C17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029" y="1295400"/>
            <a:ext cx="4136571" cy="46917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845630" cy="3834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GB" sz="2400" dirty="0">
                <a:latin typeface="+mn-lt"/>
              </a:rPr>
              <a:t>Integrates with RAG and </a:t>
            </a:r>
            <a:r>
              <a:rPr lang="en-GB" sz="2400" dirty="0" err="1">
                <a:latin typeface="+mn-lt"/>
              </a:rPr>
              <a:t>Supabase</a:t>
            </a:r>
            <a:r>
              <a:rPr lang="en-GB" sz="2400" dirty="0">
                <a:latin typeface="+mn-lt"/>
              </a:rPr>
              <a:t> Edge Functions handle preprocessing and send structured prompts to the LLM.</a:t>
            </a:r>
          </a:p>
          <a:p>
            <a:pPr algn="just"/>
            <a:r>
              <a:rPr lang="en-GB" sz="2400" dirty="0">
                <a:latin typeface="+mn-lt"/>
              </a:rPr>
              <a:t>Processes free-text symptoms using the Google Gemini 2.5 Flash LLM to understand natural language.</a:t>
            </a:r>
            <a:br>
              <a:rPr lang="en-GB" dirty="0"/>
            </a:br>
            <a:endParaRPr lang="en-GB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500742"/>
            <a:ext cx="12192000" cy="718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SzPct val="100000"/>
            </a:pPr>
            <a: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</a:rPr>
              <a:t>2.Symptom Analysis (LLM + RAG Engine)</a:t>
            </a:r>
            <a:b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sz="40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2F2CCB-76B4-BB00-648D-8DCDBFE4A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057" y="1621971"/>
            <a:ext cx="4769317" cy="35378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92628" y="2086881"/>
            <a:ext cx="6019801" cy="320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GB" sz="2400" dirty="0">
                <a:latin typeface="+mn-lt"/>
              </a:rPr>
              <a:t>Generates user-specific general recommendations based on symptoms and model-inferred conditions.</a:t>
            </a:r>
          </a:p>
          <a:p>
            <a:pPr algn="just"/>
            <a:r>
              <a:rPr lang="en-GB" sz="2400" dirty="0">
                <a:latin typeface="+mn-lt"/>
              </a:rPr>
              <a:t>Produces personalized diet suggestions aligned with the predicted condition and health category.</a:t>
            </a:r>
            <a:br>
              <a:rPr lang="en-GB" dirty="0"/>
            </a:b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402771"/>
            <a:ext cx="121920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SzPct val="100000"/>
            </a:pPr>
            <a:r>
              <a:rPr lang="en-US" altLang="en-US" sz="4000" b="1" dirty="0">
                <a:solidFill>
                  <a:schemeClr val="tx1"/>
                </a:solidFill>
                <a:latin typeface="+mn-lt"/>
              </a:rPr>
              <a:t>3.Health Recommendations Module</a:t>
            </a:r>
            <a:br>
              <a:rPr lang="en-US" altLang="en-US" sz="4000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sz="40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CBC591-D913-1B54-929B-E7C16113F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343" y="1959427"/>
            <a:ext cx="4985657" cy="35160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1230086" y="1368425"/>
            <a:ext cx="10776856" cy="1842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GB" sz="2600" dirty="0">
                <a:latin typeface="+mn-lt"/>
              </a:rPr>
              <a:t>Uses device GPS and Geolocation API to detect nearby hospitals within a defined radius.</a:t>
            </a:r>
          </a:p>
          <a:p>
            <a:r>
              <a:rPr lang="en-GB" sz="2600" dirty="0">
                <a:latin typeface="+mn-lt"/>
              </a:rPr>
              <a:t>Displays hospital details such as distance, maps route, and contact options.</a:t>
            </a:r>
            <a:br>
              <a:rPr lang="en-GB" dirty="0"/>
            </a:b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337457"/>
            <a:ext cx="12192000" cy="92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SzPct val="100000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4.Hospital Locator &amp; Nearby Medical Support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D4404E-2E77-21CE-B5C1-208B3DD22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227" y="3222171"/>
            <a:ext cx="6368143" cy="31241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859970" y="2065111"/>
            <a:ext cx="6498771" cy="290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GB" dirty="0"/>
              <a:t>Provides an emergency call feature for high-severity symptom cases detected by the system.</a:t>
            </a:r>
          </a:p>
          <a:p>
            <a:r>
              <a:rPr lang="en-GB" dirty="0"/>
              <a:t>Uses severity analysis from the LLM to trigger emergency alerts and safety prompts.</a:t>
            </a:r>
            <a:br>
              <a:rPr lang="en-GB" dirty="0"/>
            </a:b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-1"/>
            <a:ext cx="12192000" cy="156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SzPct val="100000"/>
            </a:pPr>
            <a:r>
              <a:rPr lang="en-US" altLang="en-US" sz="4000" b="1" dirty="0">
                <a:solidFill>
                  <a:schemeClr val="tx1"/>
                </a:solidFill>
                <a:latin typeface="+mn-lt"/>
              </a:rPr>
              <a:t>5.Emergency Assistance Module</a:t>
            </a:r>
            <a:br>
              <a:rPr lang="en-US" altLang="en-US" sz="4000" b="1" dirty="0">
                <a:solidFill>
                  <a:schemeClr val="tx1"/>
                </a:solidFill>
                <a:latin typeface="+mn-lt"/>
              </a:rPr>
            </a:br>
            <a:endParaRPr sz="4000" b="1" dirty="0">
              <a:latin typeface="+mn-lt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1609EB-A7ED-AECC-1FCB-A038FB6EC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716" y="849085"/>
            <a:ext cx="3965427" cy="54864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164771"/>
            <a:ext cx="10515600" cy="50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GB" sz="2400" dirty="0">
                <a:latin typeface="+mn-lt"/>
              </a:rPr>
              <a:t>The Medi Portal system successfully demonstrates how modern AI technologies can enhance early health assessment. By combining LLM-based symptom analysis, RAG-supported medical retrieval, and real-time hospital assistance, the system delivers accurate, personalized, and accessible health recommendations. It overcomes the limitations of traditional rule-based symptom checkers by understanding natural language, offering tailored guidance, and providing emergency support when needed. Overall, the system provides a reliable and efficient platform that improves user safety, medical awareness, and healthcare accessibility.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sz="2400" dirty="0">
              <a:latin typeface="+mn-lt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16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1"/>
            <a:ext cx="12066900" cy="108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FE4C74-8092-DB00-30CB-FF0C887B5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75068"/>
            <a:ext cx="1089660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users to speak symptoms instead of typing, improving accessibility and ease of use.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real-time chat or video consultation with certified doctors for professional medical assistance.</a:t>
            </a: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sz="2400" dirty="0"/>
              <a:t>Automatically trigger emergency alerts when severe symptoms or dangerous patterns are detected.</a:t>
            </a: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sz="2400" dirty="0"/>
              <a:t>Create downloadable reports summarizing symptoms, predictions, and recommendations for medical visits.</a:t>
            </a:r>
          </a:p>
          <a:p>
            <a:pPr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sz="2400" dirty="0"/>
              <a:t>Enable symptom analysis and recommendations in multiple languages for broader user accessibility.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4928-AAD0-C4B4-D346-0AF925471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936170"/>
          </a:xfrm>
        </p:spPr>
        <p:txBody>
          <a:bodyPr/>
          <a:lstStyle/>
          <a:p>
            <a:pPr algn="ctr"/>
            <a:r>
              <a:rPr lang="en-IN" b="1" dirty="0">
                <a:latin typeface="Arial Narrow" panose="020B0606020202030204" pitchFamily="34" charset="0"/>
              </a:rPr>
              <a:t>REFERENCES</a:t>
            </a:r>
            <a:endParaRPr lang="en-GB" b="1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49EDC-AA64-75E6-2612-1FACCC4874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74836B6-DFD9-2EB1-A49C-27A42E7A4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0086" y="1651268"/>
            <a:ext cx="9906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Sinha, P. – Symptom Checker using static dataset; limited AI capability (PHP, MySQL).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Gupta, S. – Disease diagnosis using Decision Tree; low accuracy for multi-symptom cases.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Thomas, L. – Hospital Finder web app; only region-based search (Google Maps API).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Verma, R. – Basic health chatbot; rule-based replies, no disease prediction (Python, AIML).</a:t>
            </a:r>
          </a:p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Works Summary – Prior systems lack AI reasoning, RAG integration, and severity-based suggestions.</a:t>
            </a:r>
          </a:p>
        </p:txBody>
      </p:sp>
    </p:spTree>
    <p:extLst>
      <p:ext uri="{BB962C8B-B14F-4D97-AF65-F5344CB8AC3E}">
        <p14:creationId xmlns:p14="http://schemas.microsoft.com/office/powerpoint/2010/main" val="1554185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11FE-59D1-7AD3-6E88-BA419D987E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 descr="Thankyou SVG Thankful SVG Thankyou Card Grateful Svg SVG | Etsy">
            <a:extLst>
              <a:ext uri="{FF2B5EF4-FFF2-40B4-BE49-F238E27FC236}">
                <a16:creationId xmlns:a16="http://schemas.microsoft.com/office/drawing/2014/main" id="{684B76D0-F74A-52AF-7A71-153A8DCA3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742" y="402276"/>
            <a:ext cx="10406744" cy="596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2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1016</Words>
  <Application>Microsoft Office PowerPoint</Application>
  <PresentationFormat>Widescreen</PresentationFormat>
  <Paragraphs>123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Times New Roman</vt:lpstr>
      <vt:lpstr>Arial Narrow</vt:lpstr>
      <vt:lpstr>Calibri</vt:lpstr>
      <vt:lpstr>Arial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PROBLEM IDENTIFICAITON </vt:lpstr>
      <vt:lpstr>PowerPoint Presentation</vt:lpstr>
      <vt:lpstr>SOFTWARE AND HARDWARE REQUIREMENTS </vt:lpstr>
      <vt:lpstr>MODULES </vt:lpstr>
      <vt:lpstr>1.User Authentication &amp; Profile Management </vt:lpstr>
      <vt:lpstr>2.Symptom Analysis (LLM + RAG Engine) </vt:lpstr>
      <vt:lpstr>3.Health Recommendations Module </vt:lpstr>
      <vt:lpstr>4.Hospital Locator &amp; Nearby Medical Support </vt:lpstr>
      <vt:lpstr>5.Emergency Assistance Module </vt:lpstr>
      <vt:lpstr>CONCLUSION</vt:lpstr>
      <vt:lpstr>FUTURE ENHANCEMENTS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Charumathi mani</cp:lastModifiedBy>
  <cp:revision>20</cp:revision>
  <dcterms:modified xsi:type="dcterms:W3CDTF">2025-11-30T11:28:59Z</dcterms:modified>
</cp:coreProperties>
</file>